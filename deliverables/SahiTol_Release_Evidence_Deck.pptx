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870ffd11134613" /><Relationship Type="http://schemas.openxmlformats.org/officeDocument/2006/relationships/extended-properties" Target="/docProps/app.xml" Id="Rc2ef6644bc29411f" /><Relationship Type="http://schemas.openxmlformats.org/officeDocument/2006/relationships/officeDocument" Target="/ppt/presentation.xml" Id="R8da10f7ab98f40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b9c99c7b03450b"/>
  </p:sldMasterIdLst>
  <p:notesMasterIdLst>
    <p:notesMasterId xmlns:r="http://schemas.openxmlformats.org/officeDocument/2006/relationships" r:id="Re984c896fe0b4ee7"/>
  </p:notesMasterIdLst>
  <p:sldIdLst>
    <p:sldId xmlns:r="http://schemas.openxmlformats.org/officeDocument/2006/relationships" id="256" r:id="R817b62c727614e30"/>
    <p:sldId xmlns:r="http://schemas.openxmlformats.org/officeDocument/2006/relationships" id="257" r:id="R9bb8710331864bdc"/>
    <p:sldId xmlns:r="http://schemas.openxmlformats.org/officeDocument/2006/relationships" id="258" r:id="R78e1bf92ed75492b"/>
    <p:sldId xmlns:r="http://schemas.openxmlformats.org/officeDocument/2006/relationships" id="259" r:id="R7bedff391bda4866"/>
    <p:sldId xmlns:r="http://schemas.openxmlformats.org/officeDocument/2006/relationships" id="260" r:id="R3cf7e17f35e44a00"/>
    <p:sldId xmlns:r="http://schemas.openxmlformats.org/officeDocument/2006/relationships" id="261" r:id="Rb682ecb59bd14384"/>
    <p:sldId xmlns:r="http://schemas.openxmlformats.org/officeDocument/2006/relationships" id="262" r:id="Ra796ab1f81fa47d9"/>
    <p:sldId xmlns:r="http://schemas.openxmlformats.org/officeDocument/2006/relationships" id="263" r:id="Ra13cb9b67ca34d7b"/>
    <p:sldId xmlns:r="http://schemas.openxmlformats.org/officeDocument/2006/relationships" id="264" r:id="Rc892652b442d45b7"/>
    <p:sldId xmlns:r="http://schemas.openxmlformats.org/officeDocument/2006/relationships" id="265" r:id="R9127474d07154f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46046c191447e7" /><Relationship Type="http://schemas.openxmlformats.org/officeDocument/2006/relationships/slideMaster" Target="/ppt/slideMasters/slideMaster1.xml" Id="Recb9c99c7b03450b" /><Relationship Type="http://schemas.openxmlformats.org/officeDocument/2006/relationships/notesMaster" Target="/ppt/notesMasters/notesMaster1.xml" Id="Re984c896fe0b4ee7" /><Relationship Type="http://schemas.openxmlformats.org/officeDocument/2006/relationships/presProps" Target="/ppt/presProps.xml" Id="Rc42db23b28b4410b" /><Relationship Type="http://schemas.openxmlformats.org/officeDocument/2006/relationships/tableStyles" Target="/ppt/tableStyles.xml" Id="R47b0b0b1ae1a4e51" /><Relationship Type="http://schemas.openxmlformats.org/officeDocument/2006/relationships/slide" Target="/ppt/slides/slide1.xml" Id="R817b62c727614e30" /><Relationship Type="http://schemas.openxmlformats.org/officeDocument/2006/relationships/slide" Target="/ppt/slides/slide2.xml" Id="R9bb8710331864bdc" /><Relationship Type="http://schemas.openxmlformats.org/officeDocument/2006/relationships/slide" Target="/ppt/slides/slide3.xml" Id="R78e1bf92ed75492b" /><Relationship Type="http://schemas.openxmlformats.org/officeDocument/2006/relationships/slide" Target="/ppt/slides/slide4.xml" Id="R7bedff391bda4866" /><Relationship Type="http://schemas.openxmlformats.org/officeDocument/2006/relationships/slide" Target="/ppt/slides/slide5.xml" Id="R3cf7e17f35e44a00" /><Relationship Type="http://schemas.openxmlformats.org/officeDocument/2006/relationships/slide" Target="/ppt/slides/slide6.xml" Id="Rb682ecb59bd14384" /><Relationship Type="http://schemas.openxmlformats.org/officeDocument/2006/relationships/slide" Target="/ppt/slides/slide7.xml" Id="Ra796ab1f81fa47d9" /><Relationship Type="http://schemas.openxmlformats.org/officeDocument/2006/relationships/slide" Target="/ppt/slides/slide8.xml" Id="Ra13cb9b67ca34d7b" /><Relationship Type="http://schemas.openxmlformats.org/officeDocument/2006/relationships/slide" Target="/ppt/slides/slide9.xml" Id="Rc892652b442d45b7" /><Relationship Type="http://schemas.openxmlformats.org/officeDocument/2006/relationships/slide" Target="/ppt/slides/slide10.xml" Id="R9127474d07154f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de834894f441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dc3e1ccda54a50" /><Relationship Type="http://schemas.openxmlformats.org/officeDocument/2006/relationships/notesMaster" Target="/ppt/notesMasters/notesMaster1.xml" Id="R5149c12492b44b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d9cd6e22fb469e" /><Relationship Type="http://schemas.openxmlformats.org/officeDocument/2006/relationships/notesMaster" Target="/ppt/notesMasters/notesMaster1.xml" Id="R9fe47568094846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bc493f12ff4b3b" /><Relationship Type="http://schemas.openxmlformats.org/officeDocument/2006/relationships/notesMaster" Target="/ppt/notesMasters/notesMaster1.xml" Id="Rbe7ef621a5b843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2114f776f941d5" /><Relationship Type="http://schemas.openxmlformats.org/officeDocument/2006/relationships/notesMaster" Target="/ppt/notesMasters/notesMaster1.xml" Id="Rb750563fda344c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3d872397784c74" /><Relationship Type="http://schemas.openxmlformats.org/officeDocument/2006/relationships/notesMaster" Target="/ppt/notesMasters/notesMaster1.xml" Id="R120c97adb61644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6758fdd3c04d4e" /><Relationship Type="http://schemas.openxmlformats.org/officeDocument/2006/relationships/notesMaster" Target="/ppt/notesMasters/notesMaster1.xml" Id="R9fee9d0aba4e40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9ffbcbb4c348b6" /><Relationship Type="http://schemas.openxmlformats.org/officeDocument/2006/relationships/notesMaster" Target="/ppt/notesMasters/notesMaster1.xml" Id="Rec21de6068b649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3d3e9806eb4523" /><Relationship Type="http://schemas.openxmlformats.org/officeDocument/2006/relationships/notesMaster" Target="/ppt/notesMasters/notesMaster1.xml" Id="R88e22fb7348249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29f05305a24f24" /><Relationship Type="http://schemas.openxmlformats.org/officeDocument/2006/relationships/notesMaster" Target="/ppt/notesMasters/notesMaster1.xml" Id="Rbc680b6afc5c49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d69fa3eba44d52" /><Relationship Type="http://schemas.openxmlformats.org/officeDocument/2006/relationships/notesMaster" Target="/ppt/notesMasters/notesMaster1.xml" Id="Rde0b2ba14cf24f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docs/evidence/T048_PPT_PRESENTER_HANDOFF.md. Do not claim government partnership or unsourced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We used named secondary sources. We have not conducted primary interviews.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step automatically certifies recycling or bank settlement.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Stitch screens are implemented in the app. Do not substitute unapproved mockups.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eventual synchronization, not real-time tracking.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illustrative price data as an official market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high accuracy. The model abstains at the chosen advisory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statutory disclaimer exactly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with: This is an editable illustration. We have not measured income uplift.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state release delivery is complete until signed APK, actual deck use, video, GitHub visibility, and submission are evidenced.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6e60b8db841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e109cd1bd40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86de7b94a42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91c88271f48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036d60b624a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dd6cfc6dc44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21A6FE-59BC-4071-8216-0591537AF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FE31BB-0209-466E-B72B-1BD3CA5539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F96480-AF83-4286-972F-BF8B04D9FD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256598-9396-4096-8F11-D77F1C035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2597D2-6C03-43CC-BF0C-1689AB0D8F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A3AB5B-AE10-44B4-A8F2-998B18D9E7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8F0AB6-A4C8-464F-99D4-E2C380CBF6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E8DEE6-2881-4CF4-BA40-2C1C65174C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9B6CE8-EE38-40F0-B3E1-E2FC19D97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C38225-2C13-4D01-9E24-389084B659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e928e5fd0f49fe" /><Relationship Type="http://schemas.openxmlformats.org/officeDocument/2006/relationships/slideLayout" Target="/ppt/slideLayouts/slideLayout1.xml" Id="Rfec3a919874f476a" /><Relationship Type="http://schemas.openxmlformats.org/officeDocument/2006/relationships/slideLayout" Target="/ppt/slideLayouts/slideLayout2.xml" Id="Re509d7746a844a33" /><Relationship Type="http://schemas.openxmlformats.org/officeDocument/2006/relationships/slideLayout" Target="/ppt/slideLayouts/slideLayout3.xml" Id="R13e6de216b34453b" /><Relationship Type="http://schemas.openxmlformats.org/officeDocument/2006/relationships/slideLayout" Target="/ppt/slideLayouts/slideLayout4.xml" Id="Rd626336d535b4600" /><Relationship Type="http://schemas.openxmlformats.org/officeDocument/2006/relationships/slideLayout" Target="/ppt/slideLayouts/slideLayout5.xml" Id="Rd319b98a636943cb" /><Relationship Type="http://schemas.openxmlformats.org/officeDocument/2006/relationships/slideLayout" Target="/ppt/slideLayouts/slideLayout6.xml" Id="R517a17264ce349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c3a919874f476a"/>
    <p:sldLayoutId xmlns:r="http://schemas.openxmlformats.org/officeDocument/2006/relationships" id="2147483650" r:id="Re509d7746a844a33"/>
    <p:sldLayoutId xmlns:r="http://schemas.openxmlformats.org/officeDocument/2006/relationships" id="2147483651" r:id="R13e6de216b34453b"/>
    <p:sldLayoutId xmlns:r="http://schemas.openxmlformats.org/officeDocument/2006/relationships" id="2147483652" r:id="Rd626336d535b4600"/>
    <p:sldLayoutId xmlns:r="http://schemas.openxmlformats.org/officeDocument/2006/relationships" id="2147483653" r:id="Rd319b98a636943cb"/>
    <p:sldLayoutId xmlns:r="http://schemas.openxmlformats.org/officeDocument/2006/relationships" id="2147483654" r:id="R517a17264ce349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c7a5122de45f3" /><Relationship Type="http://schemas.openxmlformats.org/officeDocument/2006/relationships/notesSlide" Target="/ppt/notesSlides/notesSlide1.xml" Id="R367deb5ccb7547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3bc08de9214523" /><Relationship Type="http://schemas.openxmlformats.org/officeDocument/2006/relationships/notesSlide" Target="/ppt/notesSlides/notesSlide2.xml" Id="R274a93a935ab4a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3bc9ec81aa46d0" /><Relationship Type="http://schemas.openxmlformats.org/officeDocument/2006/relationships/notesSlide" Target="/ppt/notesSlides/notesSlide3.xml" Id="Rdceb2bda56a140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c29fbffad4c7a" /><Relationship Type="http://schemas.openxmlformats.org/officeDocument/2006/relationships/notesSlide" Target="/ppt/notesSlides/notesSlide4.xml" Id="R387496bfd05b41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4ce3bc921435a" /><Relationship Type="http://schemas.openxmlformats.org/officeDocument/2006/relationships/notesSlide" Target="/ppt/notesSlides/notesSlide5.xml" Id="R62885911582c45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52b9ddf7e42f8" /><Relationship Type="http://schemas.openxmlformats.org/officeDocument/2006/relationships/notesSlide" Target="/ppt/notesSlides/notesSlide6.xml" Id="Rdd8b4d36aaca44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ce2ad8f4949ff" /><Relationship Type="http://schemas.openxmlformats.org/officeDocument/2006/relationships/notesSlide" Target="/ppt/notesSlides/notesSlide7.xml" Id="R49e29f6c195f4b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d969a2d984929" /><Relationship Type="http://schemas.openxmlformats.org/officeDocument/2006/relationships/notesSlide" Target="/ppt/notesSlides/notesSlide8.xml" Id="R6263f650cc2946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f3780c8984183" /><Relationship Type="http://schemas.openxmlformats.org/officeDocument/2006/relationships/notesSlide" Target="/ppt/notesSlides/notesSlide9.xml" Id="R30cec7211fb44e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bb46b980c4ce4" /><Relationship Type="http://schemas.openxmlformats.org/officeDocument/2006/relationships/notesSlide" Target="/ppt/notesSlides/notesSlide10.xml" Id="Rf3fa6853759640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12FBE-6520-48A3-8099-8F8E0FEC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733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SahiTol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9F323-F4B9-4B05-B156-E10C0B96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450" b="1">
                <a:solidFill>
                  <a:srgbClr val="9F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9FE5D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9FE5D8"/>
                </a:solidFill>
                <a:latin typeface="Arial"/>
                <a:ea typeface="Arial"/>
                <a:cs typeface="Arial"/>
              </a:rPr>
              <a:t>सही तोल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5D3EC-C83F-4942-854C-C8F5B9B8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3F"/>
          </a:solidFill>
          <a:ln xmlns:a="http://schemas.openxmlformats.org/drawingml/2006/main" w="0">
            <a:solidFill>
              <a:srgbClr val="E56B3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97FEA-1CCE-47D2-B464-E575D571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Fair weight. Transparent price. Confirmed receipt.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5B9ED-EFE6-4EC7-9992-323D9506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D5E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5E1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E1E7"/>
                </a:solidFill>
                <a:latin typeface="Arial"/>
                <a:ea typeface="Arial"/>
                <a:cs typeface="Arial"/>
              </a:rPr>
              <a:t>Offline-first e-waste collection and handover records for Android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14FAC-AE3E-4140-B096-E291C992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>
            <a:defPPr>
              <a:defRPr sz="1200" b="0">
                <a:solidFill>
                  <a:srgbClr val="9F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9FE5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E5D8"/>
                </a:solidFill>
                <a:latin typeface="Arial"/>
                <a:ea typeface="Arial"/>
                <a:cs typeface="Arial"/>
              </a:rPr>
              <a:t>Release evidence deck  |  1 builder, 5 presenters</a:t>
            </a:r>
          </a:p>
        </p:txBody>
      </p:sp>
    </p:spTree>
    <p:extLst>
      <p:ext uri="{BB962C8B-B14F-4D97-AF65-F5344CB8AC3E}">
        <p14:creationId xmlns:p14="http://schemas.microsoft.com/office/powerpoint/2010/main" val="1750815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E8B9F-9E1A-402F-B9D8-B6F979CA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Research 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4D748-F406-4042-95D3-ED7FA07B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Named secondary sources informed design. Primary fieldwork remains unmet.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30BDD-77AB-4CB5-8424-177AF869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5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SahiTol  |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F904A-98C9-4E15-8DB3-3B682610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9D388-7DA3-4F71-A499-3AABC966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>
            <a:defPPr>
              <a:defRPr sz="1725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What informed the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727AA-3D44-4396-B636-8CD552A0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048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7 attributed insight cards: CPCB, MPCB, DPCC, World Bank, Kabadiwalla Connect, Android, AI4Bharat</a:t>
            </a:r>
          </a:p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3 simulated personas: Hindi cash/offline collector, Marathi audio user, recycler</a:t>
            </a:r>
          </a:p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Design inferences are labelled as inferences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0CBE4-9006-4C3F-9F2A-A22FD757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335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>
            <a:defPPr>
              <a:defRPr sz="1725" b="1">
                <a:solidFill>
                  <a:srgbClr val="E56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56B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56B3F"/>
                </a:solidFill>
                <a:latin typeface="Arial"/>
                <a:ea typeface="Arial"/>
                <a:cs typeface="Arial"/>
              </a:rPr>
              <a:t>Required limitation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DB876-7BE2-4785-BFBF-DCBE8515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64040"/>
                </a:solidFill>
                <a:latin typeface="Arial"/>
                <a:ea typeface="Arial"/>
                <a:cs typeface="Arial"/>
              </a:rPr>
              <a:t>R-RES-02: two-collector primary fieldwork is UNMET.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64040"/>
                </a:solidFill>
                <a:latin typeface="Arial"/>
                <a:ea typeface="Arial"/>
                <a:cs typeface="Arial"/>
              </a:rPr>
              <a:t>No interviews, surveys, or field quotes are claimed.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F3683-EF63-4044-A104-E1003D7A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Source: docs/research/INSIGHT_CARDS.md; docs/research/PERSONAS.md; T047 frozen manifest</a:t>
            </a:r>
          </a:p>
        </p:txBody>
      </p:sp>
    </p:spTree>
    <p:extLst>
      <p:ext uri="{BB962C8B-B14F-4D97-AF65-F5344CB8AC3E}">
        <p14:creationId xmlns:p14="http://schemas.microsoft.com/office/powerpoint/2010/main" val="827433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BB2C8-4A10-4F6E-9FD1-1D30AB2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Collector, recycler, and admin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C9136-5B6E-4CA2-9879-467E0112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Each state has a separate meaning and evidence trail.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8FBD9-BE3D-48CF-8AC0-AE00F90C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5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SahiTol  |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A0ED2-7644-4A01-8ABF-DB8AA4B9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E8269-2B7D-44D1-8886-DF7262DF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>
              <a:defRPr sz="1800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Collector Android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3B4FB-B63C-4100-A86C-CDF3DA4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66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Capture photo</a:t>
            </a:r>
          </a:p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Classify advisory</a:t>
            </a:r>
          </a:p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Weigh and save locally</a:t>
            </a:r>
          </a:p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Create QR handover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0413A-ABD3-48A6-99B5-27E0D21E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>
              <a:defRPr sz="1800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Recycler console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DA64E-3A1D-46AD-B056-C0CAC8A2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Review offer</a:t>
            </a:r>
          </a:p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Verify QR proposal</a:t>
            </a:r>
          </a:p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Confirm received mass</a:t>
            </a:r>
          </a:p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Record cash acknowledgement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57E1C-1324-483D-AE0E-B3D6A548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>
              <a:defRPr sz="1800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Admin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CF4A0-AA99-48D2-99EA-892203B9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2571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Review data quality</a:t>
            </a:r>
          </a:p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Monitor sources</a:t>
            </a:r>
          </a:p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Inspect lineage</a:t>
            </a:r>
          </a:p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Export audited datasets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E70F4-8C35-4BD1-8928-C3890EBA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3F"/>
          </a:solidFill>
          <a:ln xmlns:a="http://schemas.openxmlformats.org/drawingml/2006/main" w="0">
            <a:solidFill>
              <a:srgbClr val="E56B3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F0555-BD40-4F5E-A510-4076B38E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Saved locally ≠ synchronized ≠ recycler confirmed ≠ payment acknowledged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A143D-40E8-49CF-9E21-80007D8E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Source: docs/02_PRODUCT.md; T043 and T044 evidence</a:t>
            </a:r>
          </a:p>
        </p:txBody>
      </p:sp>
    </p:spTree>
    <p:extLst>
      <p:ext uri="{BB962C8B-B14F-4D97-AF65-F5344CB8AC3E}">
        <p14:creationId xmlns:p14="http://schemas.microsoft.com/office/powerpoint/2010/main" val="692098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E1220-0B2A-4322-97F5-4727EE08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Six implemented must-haves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8940B-A666-4FEC-A7D9-883A504C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Verified components and demonstrations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70BC7-93E8-441F-8B57-13556817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5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SahiTol  |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1C8C8-AEDC-4ECA-BCCE-7A36AD8C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BFDAD-707C-469E-AFB7-F789601E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>
            <a:defPPr>
              <a:defRPr sz="1425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007FB-C297-46C2-B580-1B06C9B1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62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>
            <a:defPPr>
              <a:defRPr sz="1425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BAEFE-41F2-4EA9-BE67-573C80F2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621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>
            <a:defPPr>
              <a:defRPr sz="1425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AF35D-0759-4C25-98B0-CF1B8BA3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Recycler console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3D5A8-71C3-4A7D-AEF9-3FD37D89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7C7B"/>
                </a:solidFill>
                <a:latin typeface="Arial"/>
                <a:ea typeface="Arial"/>
                <a:cs typeface="Arial"/>
              </a:rPr>
              <a:t>C08–C10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4BB19-6381-4BD4-860F-10AE973A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T044 two-device handover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D38CA-6802-43E9-920D-F49F7C22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Offline image classifier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6909D-D627-4539-B500-74EF5EF6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7C7B"/>
                </a:solidFill>
                <a:latin typeface="Arial"/>
                <a:ea typeface="Arial"/>
                <a:cs typeface="Arial"/>
              </a:rPr>
              <a:t>C04–C05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CE9B3-AD59-49C8-88ED-BA79ADCB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T044 device test; manual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AC3AA-C0D2-4FEF-9DF9-E9B78FA9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Hindi and Marathi audio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985CA-4E7C-417E-8EAB-74985BE4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7C7B"/>
                </a:solidFill>
                <a:latin typeface="Arial"/>
                <a:ea typeface="Arial"/>
                <a:cs typeface="Arial"/>
              </a:rPr>
              <a:t>C15, C17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C1973-E77B-4EC4-A59A-691AF334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71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T046 assets and grammar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39E0C-90D2-4BC0-AF91-E99EA20D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Two-device QR handover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FE8D1-221C-4C8B-9FEE-BCA6DBF1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7C7B"/>
                </a:solidFill>
                <a:latin typeface="Arial"/>
                <a:ea typeface="Arial"/>
                <a:cs typeface="Arial"/>
              </a:rPr>
              <a:t>C10–C11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9C6F2-75C3-420A-B71E-68B829C2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62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T044 confirmed and dispute paths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27262-9FD9-4A2E-A94E-F0671C38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Admin data-quality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61CC7-F1A8-4E12-ACDC-5AE44DD4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52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7C7B"/>
                </a:solidFill>
                <a:latin typeface="Arial"/>
                <a:ea typeface="Arial"/>
                <a:cs typeface="Arial"/>
              </a:rPr>
              <a:t>R07, R08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E24A7-BF74-49EF-9FEA-CE8F6F22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52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T043 integration suite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A69DE-B117-401B-8B7E-0BF6BA0E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Illustrative economics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58809-535E-4D2B-9AF9-C8E2CB00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43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7C7B"/>
                </a:solidFill>
                <a:latin typeface="Arial"/>
                <a:ea typeface="Arial"/>
                <a:cs typeface="Arial"/>
              </a:rPr>
              <a:t>U01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BE068-FE11-4446-B8BC-4CA230A8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T039 component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4A7E8D-22E4-443C-80F3-A2112FB3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Source: docs/08_TRACKER.md; T039, T043, T044, and T046 evidence</a:t>
            </a:r>
          </a:p>
        </p:txBody>
      </p:sp>
    </p:spTree>
    <p:extLst>
      <p:ext uri="{BB962C8B-B14F-4D97-AF65-F5344CB8AC3E}">
        <p14:creationId xmlns:p14="http://schemas.microsoft.com/office/powerpoint/2010/main" val="1309452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27225-0B01-464C-A0A6-5A614BAE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Offline-first operation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36E1F-069D-4BC7-867C-75E7D20A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Room persists work locally; WorkManager retries when a connection returns.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9FC75-440F-44EB-9D23-37B1D688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5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SahiTol  |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CF988-008E-4F22-A439-3EA937A0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D301C-6D23-41B0-8EE7-3A8BE41F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286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Room stores lots, events, and outbox records on the device</a:t>
            </a:r>
          </a:p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WorkManager queues sync work and survives process kill</a:t>
            </a:r>
          </a:p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The interface labels local storage, pending sync, recycler confirmation, and payment acknowledgement separately</a:t>
            </a:r>
          </a:p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Airplane-mode test retained queued records; restart preservation was 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96E00-F17F-409D-8CCD-71DE4B31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57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>
            <a:defPPr>
              <a:defRPr sz="1725" b="1">
                <a:solidFill>
                  <a:srgbClr val="E56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56B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56B3F"/>
                </a:solidFill>
                <a:latin typeface="Arial"/>
                <a:ea typeface="Arial"/>
                <a:cs typeface="Arial"/>
              </a:rPr>
              <a:t>Hosted constraint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87EBD-797B-4C5B-9A35-D850170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295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9"/>
          </a:bodyPr>
          <a:lstStyle xmlns:a="http://schemas.openxmlformats.org/drawingml/2006/main">
            <a:def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Render Free can spin down after inactivity.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cold request can take about 30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Android workflow remains usable offline.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EF7AE-69D1-41E5-BE65-54705111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Source: T041 hosted deployment; T042 local fallback; T044 device evidence</a:t>
            </a:r>
          </a:p>
        </p:txBody>
      </p:sp>
    </p:spTree>
    <p:extLst>
      <p:ext uri="{BB962C8B-B14F-4D97-AF65-F5344CB8AC3E}">
        <p14:creationId xmlns:p14="http://schemas.microsoft.com/office/powerpoint/2010/main" val="1930746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D75D8-6E7A-4FF6-976D-68CFE3FB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Seven datasets and lineage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4DFEB-12F3-4AA5-BB2E-2973332E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Every family has a data card and provenance manifest.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05247-9026-4C72-92F3-7B72B6A0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5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SahiTol  |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E4DD4-B2E0-42CF-9066-231A49CB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9281E-90A9-4424-BCE9-E0F85077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Reference and operational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0BF75-119B-4EE1-9CC9-B2FD4CBD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286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Material catalog</a:t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Price observations</a:t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Facilities</a:t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Transactions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49F3F-7211-4AAC-BC36-EE8BC3D6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Record and accountability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05BCF-C927-406B-82EA-FB285672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191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Traceability events</a:t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Collectors</a:t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1B34D-F2C6-49CF-9632-2F10E92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Lineage: lot → observation → quote → Digital Handover Record → reviewable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B535A-BF3E-4D90-8A97-9BF3B039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Demo rows are labelled is_demo=true and remain outside real analytics. Prices are dated, desk-sourced, and indicative.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F78BC-362C-4DE1-A069-18BDF04A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Source: T031 exports; T047 frozen manifest</a:t>
            </a:r>
          </a:p>
        </p:txBody>
      </p:sp>
    </p:spTree>
    <p:extLst>
      <p:ext uri="{BB962C8B-B14F-4D97-AF65-F5344CB8AC3E}">
        <p14:creationId xmlns:p14="http://schemas.microsoft.com/office/powerpoint/2010/main" val="604411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34AD0-3713-40C6-9C9E-D07BCA4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Classifier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AF990-49BC-4E34-B791-A413F106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The model is advisory-only. Manual selection stays mandatory.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85C9D-4249-4920-A0DC-AB232A21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5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SahiTol  |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E0BAF-EA04-4B5D-B01D-E39BB51F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A7309-0A0E-48CE-97DA-4B8835A4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172 public-source images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800B8-8B99-41A2-ABF4-138A4A98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12 classes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B2D94-9CF3-4D26-AB20-AA66B21A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115 / 19 / 38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A7F69-37DF-429E-A5AC-7DC24F59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10.53%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69028-8F67-4D00-8DD6-C685C2E9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64040"/>
                </a:solidFill>
                <a:latin typeface="Arial"/>
                <a:ea typeface="Arial"/>
                <a:cs typeface="Arial"/>
              </a:rPr>
              <a:t>0.0159 macro-F1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B1169-1349-4309-98F6-A76BBE09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64040"/>
                </a:solidFill>
                <a:latin typeface="Arial"/>
                <a:ea typeface="Arial"/>
                <a:cs typeface="Arial"/>
              </a:rPr>
              <a:t>100% abstention at 0.65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BEB4A-EF1D-464A-94B6-AC837DC0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1.18 MB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BB72B-2358-4E5F-8633-E4D191AF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81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35.60 MB debug APK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BF5BB-7FFB-49BB-B38B-DC8D41A3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3F"/>
          </a:solidFill>
          <a:ln xmlns:a="http://schemas.openxmlformats.org/drawingml/2006/main" w="0">
            <a:solidFill>
              <a:srgbClr val="E56B3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E3B82-54D3-4854-B5F7-DF8A377E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00"/>
          </a:bodyPr>
          <a:lstStyle xmlns:a="http://schemas.openxmlformats.org/drawingml/2006/main">
            <a:defPPr>
              <a:defRPr sz="1875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Safe behaviour: confidence below 0.65 opens manual material selection. The app does not silently assign a category.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B015F-3AF1-4A1F-9DA5-49E6F429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Source: data/curated/model/model_card.md; T045 and T047 evidence</a:t>
            </a:r>
          </a:p>
        </p:txBody>
      </p:sp>
    </p:spTree>
    <p:extLst>
      <p:ext uri="{BB962C8B-B14F-4D97-AF65-F5344CB8AC3E}">
        <p14:creationId xmlns:p14="http://schemas.microsoft.com/office/powerpoint/2010/main" val="14286254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5A563-8BB6-4DF6-B654-BD711D9A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Safety, privacy, and regulatory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CDC37-E516-480A-9CA0-D8B38ADF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Route-aware and privacy-minimal, without automatic certification.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F08A5-85C7-4FE9-86DF-0DE19061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5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SahiTol  |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1DF3A-FBEC-434E-8CC4-89185548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2260E-1776-4F59-9CAC-68FF14DF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Only L1+ facilities appear as recycler matches</a:t>
            </a:r>
          </a:p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Battery handling follows a separate route</a:t>
            </a:r>
          </a:p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Nine bilingual safety cards cover CRT, lead battery, lithium-ion, PCB, and solvents</a:t>
            </a:r>
          </a:p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No Aadhaar, PAN, or bank details required; exports are pseudonymized</a:t>
            </a:r>
          </a:p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Append-only event chain uses previous_hash plus canonical JSON and SHA-256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FDB1C-C318-4784-AD0F-406D3428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>
            <a:defPPr>
              <a:defRPr sz="1650" b="1">
                <a:solidFill>
                  <a:srgbClr val="E56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56B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6B3F"/>
                </a:solidFill>
                <a:latin typeface="Arial"/>
                <a:ea typeface="Arial"/>
                <a:cs typeface="Arial"/>
              </a:rPr>
              <a:t>Digital Handover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3F363-4867-4FF8-A251-08BA8FEE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33625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19"/>
          </a:bodyPr>
          <a:lstStyle xmlns:a="http://schemas.openxmlformats.org/drawingml/2006/main">
            <a:defPPr>
              <a:defRPr sz="1800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64040"/>
                </a:solidFill>
                <a:latin typeface="Arial"/>
                <a:ea typeface="Arial"/>
                <a:cs typeface="Arial"/>
              </a:rPr>
              <a:t>Verifies physical scrap receipt.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64040"/>
                </a:solidFill>
                <a:latin typeface="Arial"/>
                <a:ea typeface="Arial"/>
                <a:cs typeface="Arial"/>
              </a:rPr>
              <a:t>It is not a statutory EPR certificate.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64040"/>
                </a:solidFill>
                <a:latin typeface="Arial"/>
                <a:ea typeface="Arial"/>
                <a:cs typeface="Arial"/>
              </a:rPr>
              <a:t>Received mass does not prove recycling.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AB97A-9135-422A-B341-13481BAD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Source: T040 security evidence; docs/02_PRODUCT.md</a:t>
            </a:r>
          </a:p>
        </p:txBody>
      </p:sp>
    </p:spTree>
    <p:extLst>
      <p:ext uri="{BB962C8B-B14F-4D97-AF65-F5344CB8AC3E}">
        <p14:creationId xmlns:p14="http://schemas.microsoft.com/office/powerpoint/2010/main" val="2096575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D1AE6-7E22-4E12-9A73-62F53B83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Illustrative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6E7E5-9DB2-4C3D-9397-19C88354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Editable demo fixture. It does not measure income uplift.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FB618-19C5-4950-BEB4-35ABABA2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5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SahiTol  |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1A9CE-5B8B-4CD4-869A-169A9D1D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0C232-8CE9-4685-8911-A9987735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10 kg cable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B06DC-37D5-41E9-9A9A-572A60BC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47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4C01E-10FC-42A1-BB8B-FA87DCE9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47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Platform illustration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2BD7A-A89A-481E-B7DC-B803A1F8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200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Rate ₹150/kg</a:t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Transport ₹100</a:t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Handling ₹50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Net ₹350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6F11D-DE36-4EAD-8072-1E0802F8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257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Rate ₹160/kg</a:t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Transport ₹80</a:t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Handling ₹50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Net ₹470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9B40D-6A4C-4C30-A303-3B579AEF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768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Illustrative delta: ₹120 (+34.3%)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00867-124F-4B05-9F8A-5BF7E279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435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>
            <a:defPPr>
              <a:defRPr sz="1425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₹0 collector fee. Rates and costs remain editable assumptions.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E87D7-5776-4E99-B55A-9411F6A9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Source: T048 presenter handoff; U01 illustrative economics fixture</a:t>
            </a:r>
          </a:p>
        </p:txBody>
      </p:sp>
    </p:spTree>
    <p:extLst>
      <p:ext uri="{BB962C8B-B14F-4D97-AF65-F5344CB8AC3E}">
        <p14:creationId xmlns:p14="http://schemas.microsoft.com/office/powerpoint/2010/main" val="13151304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500EA-ED33-4D98-8A9D-45573135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E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433"/>
                </a:solidFill>
                <a:latin typeface="Arial"/>
                <a:ea typeface="Arial"/>
                <a:cs typeface="Arial"/>
              </a:rPr>
              <a:t>Release evidence and remaining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89471-ED8E-4179-A6ED-3339FA18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Working surfaces, current limitations, and verification 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39B9E-5643-49B2-B89B-028B967D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5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E78"/>
                </a:solidFill>
                <a:latin typeface="Arial"/>
                <a:ea typeface="Arial"/>
                <a:cs typeface="Arial"/>
              </a:rPr>
              <a:t>SahiTol  |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CF730-E0FE-4BA7-BCE5-0E904FBA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CA62D-D62F-472B-B795-C2A7B142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277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A5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A58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AEC28-173A-4595-9DB9-530EEFCA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5048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Android collector app with offline capture, LiteRT, audio, QR handover, and ledger</a:t>
            </a:r>
          </a:p>
          <a:p xmlns:a="http://schemas.openxmlformats.org/drawingml/2006/main">
            <a: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Live FastAPI: sahitol-api.onrender.com</a:t>
            </a:r>
          </a:p>
          <a:p xmlns:a="http://schemas.openxmlformats.org/drawingml/2006/main">
            <a: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Live web console: sahitol.pages.dev</a:t>
            </a:r>
          </a:p>
          <a:p xmlns:a="http://schemas.openxmlformats.org/drawingml/2006/main">
            <a: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258 offline audio clips and seven data families with manifests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1F473-D388-4C42-BFC2-F0642269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640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64040"/>
                </a:solidFill>
                <a:latin typeface="Arial"/>
                <a:ea typeface="Arial"/>
                <a:cs typeface="Arial"/>
              </a:rPr>
              <a:t>Still disclosed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197C9-FA9A-4D77-8477-031C65EB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4476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Primary fieldwork unmet</a:t>
            </a:r>
          </a:p>
          <a:p xmlns:a="http://schemas.openxmlformats.org/drawingml/2006/main">
            <a: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Model macro-F1 0.0159; manual fallback required</a:t>
            </a:r>
          </a:p>
          <a:p xmlns:a="http://schemas.openxmlformats.org/drawingml/2006/main">
            <a: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Native-speaker review not performed</a:t>
            </a:r>
          </a:p>
          <a:p xmlns:a="http://schemas.openxmlformats.org/drawingml/2006/main">
            <a: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Render Free may cold-start after inactivity</a:t>
            </a:r>
          </a:p>
          <a:p xmlns:a="http://schemas.openxmlformats.org/drawingml/2006/main">
            <a:pPr>
              <a:defRPr sz="15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• Signed release APK and recorded demo video still 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21F60-2DCB-4816-9E7E-FC1F29F8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E7C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API  https://sahitol-api.onrender.com     Web  https://sahitol.pages.dev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6798F-0287-4F37-A7D4-4DB4BBE4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6E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E78"/>
                </a:solidFill>
                <a:latin typeface="Arial"/>
                <a:ea typeface="Arial"/>
                <a:cs typeface="Arial"/>
              </a:rPr>
              <a:t>Source: T041–T047 evidence; T050 release handoff</a:t>
            </a:r>
          </a:p>
        </p:txBody>
      </p:sp>
    </p:spTree>
    <p:extLst>
      <p:ext uri="{BB962C8B-B14F-4D97-AF65-F5344CB8AC3E}">
        <p14:creationId xmlns:p14="http://schemas.microsoft.com/office/powerpoint/2010/main" val="1383237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2026-10-01T22:46:35.7130000Z</dcterms:created>
  <dcterms:modified xsi:type="dcterms:W3CDTF">2026-10-01T22:46:35.7140000Z</dcterms:modified>
</coreProperties>
</file>